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966960" y="-731520"/>
            <a:ext cx="3108960" cy="31089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89920" y="4480560"/>
            <a:ext cx="2286000" cy="228600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5303520"/>
            <a:ext cx="1280160" cy="1280160"/>
          </a:xfrm>
          <a:prstGeom prst="ellipse">
            <a:avLst/>
          </a:prstGeom>
          <a:solidFill>
            <a:srgbClr val="5D8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658368"/>
            <a:ext cx="886968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Times New Roman"/>
              </a:rPr>
              <a:t>1M1B AI FOR SUSTAINABILITY VIRTUAL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8046720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Times New Roman"/>
              </a:rPr>
              <a:t>EcoSort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886968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Times New Roman"/>
              </a:rPr>
              <a:t>A Smart Waste Segregation &amp; Recycling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154680"/>
            <a:ext cx="914400" cy="54864"/>
          </a:xfrm>
          <a:prstGeom prst="rect">
            <a:avLst/>
          </a:prstGeom>
          <a:solidFill>
            <a:srgbClr val="E0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7955279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SDG 11 • Sustainable Cities &amp; Communities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7955279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SDG 12 • Responsible Consumption &amp;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4572000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  <a:latin typeface="Times New Roman"/>
              </a:rPr>
              <a:t>Presented by: [</a:t>
            </a:r>
            <a:r>
              <a:rPr lang="en-US" sz="1600" dirty="0">
                <a:solidFill>
                  <a:srgbClr val="FFFFFF"/>
                </a:solidFill>
                <a:latin typeface="Times New Roman"/>
              </a:rPr>
              <a:t>SHAIK USMAN </a:t>
            </a:r>
            <a:r>
              <a:rPr sz="1600" b="0" dirty="0">
                <a:solidFill>
                  <a:srgbClr val="FFFFFF"/>
                </a:solidFill>
                <a:latin typeface="Times New Roman"/>
              </a:rPr>
              <a:t>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5902036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  <a:latin typeface="Times New Roman"/>
              </a:rPr>
              <a:t>College: [</a:t>
            </a:r>
            <a:r>
              <a:rPr lang="en-US" sz="1600" dirty="0">
                <a:solidFill>
                  <a:srgbClr val="FFFFFF"/>
                </a:solidFill>
                <a:latin typeface="Times New Roman"/>
              </a:rPr>
              <a:t>CMR COLLEGE OF ENGINEERING &amp; TECHNOLOGY</a:t>
            </a:r>
            <a:r>
              <a:rPr sz="1600" b="0" dirty="0">
                <a:solidFill>
                  <a:srgbClr val="FFFFFF"/>
                </a:solidFill>
                <a:latin typeface="Times New Roman"/>
              </a:rPr>
              <a:t>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532120"/>
            <a:ext cx="475488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Times New Roman"/>
              </a:rPr>
              <a:t>In collaboration with IBM SkillsBuild &amp; AICTE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400" b="1">
                <a:solidFill>
                  <a:srgbClr val="2C5F2D"/>
                </a:solidFill>
                <a:latin typeface="Times New Roman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566928" cy="45720"/>
          </a:xfrm>
          <a:prstGeom prst="rect">
            <a:avLst/>
          </a:prstGeom>
          <a:solidFill>
            <a:srgbClr val="E0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698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0">
                <a:solidFill>
                  <a:srgbClr val="5A645C"/>
                </a:solidFill>
                <a:latin typeface="Times New Roman"/>
              </a:rPr>
              <a:t>Why waste segregation still fails at the 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764792"/>
            <a:ext cx="30266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Mixed waste at the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58568"/>
            <a:ext cx="3026664" cy="1234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63028"/>
                </a:solidFill>
                <a:latin typeface="Times New Roman"/>
              </a:rPr>
              <a:t>Plastics, organics, e-waste and recyclables can end up in the same bin.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764792"/>
            <a:ext cx="30266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Unclear disposal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258568"/>
            <a:ext cx="3026664" cy="1234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63028"/>
                </a:solidFill>
                <a:latin typeface="Times New Roman"/>
              </a:rPr>
              <a:t>People may not know which category an item belongs to or which local rule applies.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93608" y="1764792"/>
            <a:ext cx="30266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Environmental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258568"/>
            <a:ext cx="3026664" cy="1234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63028"/>
                </a:solidFill>
                <a:latin typeface="Times New Roman"/>
              </a:rPr>
              <a:t>Mixed waste contaminates recyclable material, increases landfill load and can raise processing costs.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82880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Core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096512"/>
            <a:ext cx="8869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3028"/>
                </a:solidFill>
                <a:latin typeface="Times New Roman"/>
              </a:defRPr>
            </a:pPr>
            <a:r>
              <a:rPr>
                <a:latin typeface="Times New Roman"/>
              </a:rPr>
              <a:t>• Users need guidance at the moment they dispose of an item.</a:t>
            </a:r>
          </a:p>
          <a:p>
            <a:pPr>
              <a:spcAft>
                <a:spcPts val="900"/>
              </a:spcAft>
              <a:defRPr sz="1600">
                <a:solidFill>
                  <a:srgbClr val="263028"/>
                </a:solidFill>
                <a:latin typeface="Times New Roman"/>
              </a:defRPr>
            </a:pPr>
            <a:r>
              <a:rPr>
                <a:latin typeface="Times New Roman"/>
              </a:rPr>
              <a:t>• Static posters or rulebooks cannot easily cover every item and local disposal rule.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492240"/>
            <a:ext cx="96012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0">
                <a:solidFill>
                  <a:srgbClr val="5A645C"/>
                </a:solidFill>
                <a:latin typeface="Times New Roman"/>
              </a:rPr>
              <a:t>1M1B AI for Sustainability Internship  |  EcoSort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92240"/>
            <a:ext cx="502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2C5F2D"/>
                </a:solidFill>
                <a:latin typeface="Times New Roman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400" b="1">
                <a:solidFill>
                  <a:srgbClr val="2C5F2D"/>
                </a:solidFill>
                <a:latin typeface="Times New Roman"/>
              </a:rPr>
              <a:t>Problem Statement &amp; SDG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566928" cy="45720"/>
          </a:xfrm>
          <a:prstGeom prst="rect">
            <a:avLst/>
          </a:prstGeom>
          <a:solidFill>
            <a:srgbClr val="E0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10972800" cy="1600200"/>
          </a:xfrm>
          <a:prstGeom prst="roundRect">
            <a:avLst/>
          </a:prstGeom>
          <a:solidFill>
            <a:srgbClr val="2C5F2D"/>
          </a:solidFill>
          <a:ln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1673351"/>
            <a:ext cx="105704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167128"/>
            <a:ext cx="10570464" cy="7772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Times New Roman"/>
              </a:rPr>
              <a:t>How might we use AI to help people correctly identify and sort waste in real time, so that campuses and communities generate cleaner, more recyclable waste streams?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99032" y="3611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00200" y="3767463"/>
            <a:ext cx="3026664" cy="3447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 dirty="0">
                <a:solidFill>
                  <a:srgbClr val="2C5F2D"/>
                </a:solidFill>
                <a:latin typeface="Times New Roman"/>
              </a:rPr>
              <a:t>SDG 1</a:t>
            </a:r>
            <a:r>
              <a:rPr lang="en-US" sz="2000" b="1" dirty="0">
                <a:solidFill>
                  <a:srgbClr val="2C5F2D"/>
                </a:solidFill>
                <a:latin typeface="Times New Roman"/>
              </a:rPr>
              <a:t>1</a:t>
            </a:r>
            <a:endParaRPr sz="2000" b="1" dirty="0">
              <a:solidFill>
                <a:srgbClr val="2C5F2D"/>
              </a:solidFill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00200" y="4204040"/>
            <a:ext cx="3026664" cy="5293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lang="en-US" sz="1600" b="0" dirty="0">
                <a:solidFill>
                  <a:srgbClr val="263028"/>
                </a:solidFill>
                <a:latin typeface="Times New Roman"/>
              </a:rPr>
              <a:t>Sustainable Cities &amp; Communities</a:t>
            </a:r>
          </a:p>
          <a:p>
            <a:pPr algn="l"/>
            <a:endParaRPr sz="1600" b="0" dirty="0">
              <a:solidFill>
                <a:srgbClr val="263028"/>
              </a:solidFill>
              <a:latin typeface="Times New Roman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22392" y="3586942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46251" y="3723686"/>
            <a:ext cx="3026664" cy="3447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 dirty="0">
                <a:solidFill>
                  <a:srgbClr val="2C5F2D"/>
                </a:solidFill>
                <a:latin typeface="Times New Roman"/>
              </a:rPr>
              <a:t>SDG 1</a:t>
            </a:r>
            <a:r>
              <a:rPr lang="en-US" sz="2000" b="1" dirty="0">
                <a:solidFill>
                  <a:srgbClr val="2C5F2D"/>
                </a:solidFill>
                <a:latin typeface="Times New Roman"/>
              </a:rPr>
              <a:t>2</a:t>
            </a:r>
            <a:endParaRPr sz="2000" b="1" dirty="0">
              <a:solidFill>
                <a:srgbClr val="2C5F2D"/>
              </a:solidFill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556226" y="4205140"/>
            <a:ext cx="3026664" cy="77559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lang="en-US" sz="1600" b="0" dirty="0">
                <a:solidFill>
                  <a:srgbClr val="263028"/>
                </a:solidFill>
                <a:latin typeface="Times New Roman"/>
              </a:rPr>
              <a:t>Responsible Consumption &amp; Production</a:t>
            </a:r>
          </a:p>
          <a:p>
            <a:pPr algn="l"/>
            <a:endParaRPr sz="1600" b="0" dirty="0">
              <a:solidFill>
                <a:srgbClr val="263028"/>
              </a:solidFill>
              <a:latin typeface="Times New Roma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5577840"/>
            <a:ext cx="103327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Times New Roman"/>
              </a:rPr>
              <a:t>Main focus: practical, responsible AI support for everyday waste segregation.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92240"/>
            <a:ext cx="96012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0">
                <a:solidFill>
                  <a:srgbClr val="5A645C"/>
                </a:solidFill>
                <a:latin typeface="Times New Roman"/>
              </a:rPr>
              <a:t>1M1B AI for Sustainability Internship  |  EcoSort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02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2C5F2D"/>
                </a:solidFill>
                <a:latin typeface="Times New Roman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400" b="1">
                <a:solidFill>
                  <a:srgbClr val="2C5F2D"/>
                </a:solidFill>
                <a:latin typeface="Times New Roman"/>
              </a:rPr>
              <a:t>Who Is Affected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566928" cy="45720"/>
          </a:xfrm>
          <a:prstGeom prst="rect">
            <a:avLst/>
          </a:prstGeom>
          <a:solidFill>
            <a:srgbClr val="E0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698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0">
                <a:solidFill>
                  <a:srgbClr val="5A645C"/>
                </a:solidFill>
                <a:latin typeface="Times New Roman"/>
              </a:rPr>
              <a:t>Target users of EcoSort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29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764792"/>
            <a:ext cx="30266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1  Students &amp; Households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44605"/>
            <a:ext cx="3026664" cy="2240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63028"/>
                </a:solidFill>
                <a:latin typeface="Times New Roman"/>
              </a:rPr>
              <a:t>Need quick, everyday guidance for plastics, e-waste, organics and other waste.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29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764792"/>
            <a:ext cx="30266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2  Campus / Facility Staff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344605"/>
            <a:ext cx="3026664" cy="2240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 dirty="0">
                <a:solidFill>
                  <a:srgbClr val="263028"/>
                </a:solidFill>
                <a:latin typeface="Times New Roman"/>
              </a:rPr>
              <a:t>Manage bins across buildings and need fewer contamination errors and less corrective sorting.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429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93608" y="1764792"/>
            <a:ext cx="30266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 dirty="0">
                <a:solidFill>
                  <a:srgbClr val="2C5F2D"/>
                </a:solidFill>
                <a:latin typeface="Times New Roman"/>
              </a:rPr>
              <a:t>3  Municipal Waste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336708"/>
            <a:ext cx="3026664" cy="2240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 dirty="0">
                <a:solidFill>
                  <a:srgbClr val="263028"/>
                </a:solidFill>
                <a:latin typeface="Times New Roman"/>
              </a:rPr>
              <a:t>Benefit from cleaner input streams that can support efficient processing and recycling.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492240"/>
            <a:ext cx="96012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0">
                <a:solidFill>
                  <a:srgbClr val="5A645C"/>
                </a:solidFill>
                <a:latin typeface="Times New Roman"/>
              </a:rPr>
              <a:t>1M1B AI for Sustainability Internship  |  EcoSort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92240"/>
            <a:ext cx="502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2C5F2D"/>
                </a:solidFill>
                <a:latin typeface="Times New Roman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400" b="1">
                <a:solidFill>
                  <a:srgbClr val="2C5F2D"/>
                </a:solidFill>
                <a:latin typeface="Times New Roman"/>
              </a:rPr>
              <a:t>AI Solution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566928" cy="45720"/>
          </a:xfrm>
          <a:prstGeom prst="rect">
            <a:avLst/>
          </a:prstGeom>
          <a:solidFill>
            <a:srgbClr val="E0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698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0">
                <a:solidFill>
                  <a:srgbClr val="5A645C"/>
                </a:solidFill>
                <a:latin typeface="Times New Roman"/>
              </a:rPr>
              <a:t>Image/text input → understanding → retrieval → guidance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4231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764792"/>
            <a:ext cx="202082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1  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258568"/>
            <a:ext cx="2020824" cy="1417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63028"/>
                </a:solidFill>
                <a:latin typeface="Times New Roman"/>
              </a:rPr>
              <a:t>User uploads a waste image or enters a text description.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487168"/>
            <a:ext cx="41148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2000" b="1">
                <a:solidFill>
                  <a:srgbClr val="2C5F2D"/>
                </a:solidFill>
                <a:latin typeface="Times New Roman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1600200"/>
            <a:ext cx="24231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764792"/>
            <a:ext cx="202082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2  Classify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258568"/>
            <a:ext cx="2020824" cy="1417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63028"/>
                </a:solidFill>
                <a:latin typeface="Times New Roman"/>
              </a:rPr>
              <a:t>AI identifies the waste type or category.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2487168"/>
            <a:ext cx="41148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2000" b="1">
                <a:solidFill>
                  <a:srgbClr val="2C5F2D"/>
                </a:solidFill>
                <a:latin typeface="Times New Roman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600200"/>
            <a:ext cx="2423160" cy="2240280"/>
          </a:xfrm>
          <a:prstGeom prst="roundRect">
            <a:avLst/>
          </a:prstGeom>
          <a:solidFill>
            <a:srgbClr val="2C5F2D"/>
          </a:solidFill>
          <a:ln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1764792"/>
            <a:ext cx="202082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3  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258568"/>
            <a:ext cx="2020824" cy="1417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Times New Roman"/>
              </a:rPr>
              <a:t>RAG retrieves relevant rules from the knowledge base.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1664" y="2487168"/>
            <a:ext cx="41148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2000" b="1">
                <a:solidFill>
                  <a:srgbClr val="2C5F2D"/>
                </a:solidFill>
                <a:latin typeface="Times New Roman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26296" y="1600200"/>
            <a:ext cx="24231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27464" y="1764792"/>
            <a:ext cx="202082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4 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7464" y="2258568"/>
            <a:ext cx="2020824" cy="1417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63028"/>
                </a:solidFill>
                <a:latin typeface="Times New Roman"/>
              </a:rPr>
              <a:t>Assistant generates clear sorting and disposal guidance.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43400"/>
            <a:ext cx="182880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Why AI?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270248"/>
            <a:ext cx="9144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3028"/>
                </a:solidFill>
                <a:latin typeface="Times New Roman"/>
              </a:defRPr>
            </a:pPr>
            <a:r>
              <a:rPr>
                <a:latin typeface="Times New Roman"/>
              </a:rPr>
              <a:t>• Instant guidance instead of manual lookup.</a:t>
            </a:r>
          </a:p>
          <a:p>
            <a:pPr>
              <a:spcAft>
                <a:spcPts val="900"/>
              </a:spcAft>
              <a:defRPr sz="1600">
                <a:solidFill>
                  <a:srgbClr val="263028"/>
                </a:solidFill>
                <a:latin typeface="Times New Roman"/>
              </a:defRPr>
            </a:pPr>
            <a:r>
              <a:rPr>
                <a:latin typeface="Times New Roman"/>
              </a:rPr>
              <a:t>• Supports both image and text inputs.</a:t>
            </a:r>
          </a:p>
          <a:p>
            <a:pPr>
              <a:spcAft>
                <a:spcPts val="900"/>
              </a:spcAft>
              <a:defRPr sz="1600">
                <a:solidFill>
                  <a:srgbClr val="263028"/>
                </a:solidFill>
                <a:latin typeface="Times New Roman"/>
              </a:defRPr>
            </a:pPr>
            <a:r>
              <a:rPr>
                <a:latin typeface="Times New Roman"/>
              </a:rPr>
              <a:t>• Combines AI understanding with local knowledge.</a:t>
            </a:r>
          </a:p>
          <a:p>
            <a:pPr>
              <a:spcAft>
                <a:spcPts val="900"/>
              </a:spcAft>
              <a:defRPr sz="1600">
                <a:solidFill>
                  <a:srgbClr val="263028"/>
                </a:solidFill>
                <a:latin typeface="Times New Roman"/>
              </a:defRPr>
            </a:pPr>
            <a:r>
              <a:rPr>
                <a:latin typeface="Times New Roman"/>
              </a:rPr>
              <a:t>• Can scale across many users and waste items.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92240"/>
            <a:ext cx="96012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0">
                <a:solidFill>
                  <a:srgbClr val="5A645C"/>
                </a:solidFill>
                <a:latin typeface="Times New Roman"/>
              </a:rPr>
              <a:t>1M1B AI for Sustainability Internship  |  EcoSort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92240"/>
            <a:ext cx="502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2C5F2D"/>
                </a:solidFill>
                <a:latin typeface="Times New Roman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400" b="1">
                <a:solidFill>
                  <a:srgbClr val="2C5F2D"/>
                </a:solidFill>
                <a:latin typeface="Times New Roman"/>
              </a:rPr>
              <a:t>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566928" cy="45720"/>
          </a:xfrm>
          <a:prstGeom prst="rect">
            <a:avLst/>
          </a:prstGeom>
          <a:solidFill>
            <a:srgbClr val="E0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698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0">
                <a:solidFill>
                  <a:srgbClr val="5A645C"/>
                </a:solidFill>
                <a:latin typeface="Times New Roman"/>
              </a:rPr>
              <a:t>Updated EcoSort AI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3584448" cy="1188720"/>
          </a:xfrm>
          <a:prstGeom prst="roundRect">
            <a:avLst/>
          </a:prstGeom>
          <a:solidFill>
            <a:srgbClr val="2C5F2D"/>
          </a:solidFill>
          <a:ln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673351"/>
            <a:ext cx="3182112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075688"/>
            <a:ext cx="3182112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  <a:latin typeface="Times New Roman"/>
              </a:rPr>
              <a:t>Retrieves relevant waste-disposal rules before generating guidance.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508760"/>
            <a:ext cx="3584448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08575" y="1673351"/>
            <a:ext cx="3182112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Multimodal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5" y="2066543"/>
            <a:ext cx="3182112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 dirty="0">
                <a:solidFill>
                  <a:srgbClr val="263028"/>
                </a:solidFill>
                <a:latin typeface="Times New Roman"/>
              </a:rPr>
              <a:t>Accepts waste images and text descriptions as input.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11896" y="1508760"/>
            <a:ext cx="3584448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13064" y="1673351"/>
            <a:ext cx="3182112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AI Image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3064" y="2061971"/>
            <a:ext cx="3182112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 dirty="0">
                <a:solidFill>
                  <a:srgbClr val="263028"/>
                </a:solidFill>
                <a:latin typeface="Times New Roman"/>
              </a:rPr>
              <a:t>Identifies the waste type/category from an uploaded image.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90088"/>
            <a:ext cx="3584448" cy="1188720"/>
          </a:xfrm>
          <a:prstGeom prst="roundRect">
            <a:avLst/>
          </a:prstGeom>
          <a:solidFill>
            <a:srgbClr val="2C5F2D"/>
          </a:solidFill>
          <a:ln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3154680"/>
            <a:ext cx="3182112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IBM Granite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525013"/>
            <a:ext cx="3182112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  <a:latin typeface="Times New Roman"/>
              </a:rPr>
              <a:t>Planned/selected model component for image and text understanding.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407" y="2990088"/>
            <a:ext cx="3584448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08575" y="3154680"/>
            <a:ext cx="3182112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Prompt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5" y="3525013"/>
            <a:ext cx="3182112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 dirty="0">
                <a:solidFill>
                  <a:srgbClr val="263028"/>
                </a:solidFill>
                <a:latin typeface="Times New Roman"/>
              </a:rPr>
              <a:t>Structured prompts classify waste and generate recommendations.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11896" y="2990088"/>
            <a:ext cx="3584448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13064" y="3154680"/>
            <a:ext cx="3182112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NLP / Text Understanding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6968" y="3538728"/>
            <a:ext cx="3182112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 dirty="0">
                <a:solidFill>
                  <a:srgbClr val="263028"/>
                </a:solidFill>
                <a:latin typeface="Times New Roman"/>
              </a:rPr>
              <a:t>Processes descriptions and user questions about disposal.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71416"/>
            <a:ext cx="3584448" cy="1310916"/>
          </a:xfrm>
          <a:prstGeom prst="roundRect">
            <a:avLst/>
          </a:prstGeom>
          <a:solidFill>
            <a:srgbClr val="2C5F2D"/>
          </a:solidFill>
          <a:ln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4636008"/>
            <a:ext cx="3182112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Knowledge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5129784"/>
            <a:ext cx="3182112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  <a:latin typeface="Times New Roman"/>
              </a:rPr>
              <a:t>Stores waste categories, disposal methods and recycling guidance.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7407" y="4471415"/>
            <a:ext cx="3584448" cy="1335023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08575" y="4636008"/>
            <a:ext cx="3182112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Python + Flask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8575" y="5129784"/>
            <a:ext cx="3182112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 dirty="0">
                <a:solidFill>
                  <a:srgbClr val="263028"/>
                </a:solidFill>
                <a:latin typeface="Times New Roman"/>
              </a:rPr>
              <a:t>Backend/API layer for application and AI integration.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11894" y="4495522"/>
            <a:ext cx="3584448" cy="1310917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13064" y="4636008"/>
            <a:ext cx="3182112" cy="96026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 dirty="0">
                <a:solidFill>
                  <a:srgbClr val="2C5F2D"/>
                </a:solidFill>
                <a:latin typeface="Times New Roman"/>
              </a:rPr>
              <a:t>HTML, CSS, JavaScript + Tailwind CSS</a:t>
            </a:r>
            <a:endParaRPr lang="en-US" sz="2000" b="1" dirty="0">
              <a:solidFill>
                <a:srgbClr val="2C5F2D"/>
              </a:solidFill>
              <a:latin typeface="Times New Roman"/>
            </a:endParaRPr>
          </a:p>
          <a:p>
            <a:pPr algn="l"/>
            <a:endParaRPr sz="2000" b="1" dirty="0">
              <a:solidFill>
                <a:srgbClr val="2C5F2D"/>
              </a:solidFill>
              <a:latin typeface="Times New Roman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13064" y="5231342"/>
            <a:ext cx="3182112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 dirty="0">
                <a:solidFill>
                  <a:srgbClr val="263028"/>
                </a:solidFill>
                <a:latin typeface="Times New Roman"/>
              </a:rPr>
              <a:t>Frontend layer for the </a:t>
            </a:r>
            <a:r>
              <a:rPr sz="1600" b="0" dirty="0" err="1">
                <a:solidFill>
                  <a:srgbClr val="263028"/>
                </a:solidFill>
                <a:latin typeface="Times New Roman"/>
              </a:rPr>
              <a:t>EcoSort</a:t>
            </a:r>
            <a:r>
              <a:rPr sz="1600" b="0" dirty="0">
                <a:solidFill>
                  <a:srgbClr val="263028"/>
                </a:solidFill>
                <a:latin typeface="Times New Roman"/>
              </a:rPr>
              <a:t> AI interface.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492240"/>
            <a:ext cx="96012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0">
                <a:solidFill>
                  <a:srgbClr val="5A645C"/>
                </a:solidFill>
                <a:latin typeface="Times New Roman"/>
              </a:rPr>
              <a:t>1M1B AI for Sustainability Internship  |  EcoSort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492240"/>
            <a:ext cx="502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2C5F2D"/>
                </a:solidFill>
                <a:latin typeface="Times New Roman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400" b="1">
                <a:solidFill>
                  <a:srgbClr val="2C5F2D"/>
                </a:solidFill>
                <a:latin typeface="Times New Roman"/>
              </a:rPr>
              <a:t>System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566928" cy="45720"/>
          </a:xfrm>
          <a:prstGeom prst="rect">
            <a:avLst/>
          </a:prstGeom>
          <a:solidFill>
            <a:srgbClr val="E0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698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0">
                <a:solidFill>
                  <a:srgbClr val="5A645C"/>
                </a:solidFill>
                <a:latin typeface="Times New Roman"/>
              </a:rPr>
              <a:t>How the updated architecture processes a waste item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4688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810512"/>
            <a:ext cx="206654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User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04288"/>
            <a:ext cx="2066544" cy="1508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63028"/>
                </a:solidFill>
                <a:latin typeface="Times New Roman"/>
              </a:rPr>
              <a:t>Image or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578608"/>
            <a:ext cx="438912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2000" b="1">
                <a:solidFill>
                  <a:srgbClr val="2C5F2D"/>
                </a:solidFill>
                <a:latin typeface="Times New Roman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24688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84448" y="1810512"/>
            <a:ext cx="206654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AI 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304288"/>
            <a:ext cx="2066544" cy="1508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63028"/>
                </a:solidFill>
                <a:latin typeface="Times New Roman"/>
              </a:rPr>
              <a:t>Granite + image classification + NLP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578608"/>
            <a:ext cx="438912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2000" b="1">
                <a:solidFill>
                  <a:srgbClr val="2C5F2D"/>
                </a:solidFill>
                <a:latin typeface="Times New Roman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45920"/>
            <a:ext cx="2468880" cy="2331720"/>
          </a:xfrm>
          <a:prstGeom prst="roundRect">
            <a:avLst/>
          </a:prstGeom>
          <a:solidFill>
            <a:srgbClr val="2C5F2D"/>
          </a:solidFill>
          <a:ln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1810512"/>
            <a:ext cx="206654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Knowledge 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51176"/>
            <a:ext cx="2066544" cy="1508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  <a:latin typeface="Times New Roman"/>
              </a:rPr>
              <a:t>RAG + waste knowledge 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578608"/>
            <a:ext cx="438912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2000" b="1">
                <a:solidFill>
                  <a:srgbClr val="2C5F2D"/>
                </a:solidFill>
                <a:latin typeface="Times New Roman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645920"/>
            <a:ext cx="24688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36608" y="1810512"/>
            <a:ext cx="206654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36608" y="2304288"/>
            <a:ext cx="2066544" cy="1508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63028"/>
                </a:solidFill>
                <a:latin typeface="Times New Roman"/>
              </a:rPr>
              <a:t>Clear disposal guidance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4617720"/>
            <a:ext cx="2971800" cy="1508758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35608" y="4782312"/>
            <a:ext cx="25694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8" y="5276088"/>
            <a:ext cx="2569464" cy="1371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63028"/>
                </a:solidFill>
                <a:latin typeface="Times New Roman"/>
              </a:rPr>
              <a:t>Python + Flask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4617719"/>
            <a:ext cx="2971800" cy="1508759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18888" y="4782312"/>
            <a:ext cx="25694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8888" y="5276088"/>
            <a:ext cx="2569464" cy="1371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63028"/>
                </a:solidFill>
                <a:latin typeface="Times New Roman"/>
              </a:rPr>
              <a:t>HTML + CSS + JavaScript + Tailwind CSS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4617719"/>
            <a:ext cx="2971800" cy="1334193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02168" y="4782312"/>
            <a:ext cx="25694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8" y="5276088"/>
            <a:ext cx="2569464" cy="1371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 dirty="0">
                <a:solidFill>
                  <a:srgbClr val="263028"/>
                </a:solidFill>
                <a:latin typeface="Times New Roman"/>
              </a:rPr>
              <a:t>Contextual, actionable guidance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492240"/>
            <a:ext cx="96012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0">
                <a:solidFill>
                  <a:srgbClr val="5A645C"/>
                </a:solidFill>
                <a:latin typeface="Times New Roman"/>
              </a:rPr>
              <a:t>1M1B AI for Sustainability Internship  |  EcoSort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492240"/>
            <a:ext cx="502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2C5F2D"/>
                </a:solidFill>
                <a:latin typeface="Times New Roman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400" b="1">
                <a:solidFill>
                  <a:srgbClr val="2C5F2D"/>
                </a:solidFill>
                <a:latin typeface="Times New Roman"/>
              </a:rPr>
              <a:t>Prototype: Sample Interaction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566928" cy="45720"/>
          </a:xfrm>
          <a:prstGeom prst="rect">
            <a:avLst/>
          </a:prstGeom>
          <a:solidFill>
            <a:srgbClr val="E0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698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0">
                <a:solidFill>
                  <a:srgbClr val="5A645C"/>
                </a:solidFill>
                <a:latin typeface="Times New Roman"/>
              </a:rPr>
              <a:t>Conversational demo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627632"/>
            <a:ext cx="48554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21408"/>
            <a:ext cx="4855464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63028"/>
                </a:solidFill>
                <a:latin typeface="Times New Roman"/>
              </a:rPr>
              <a:t>“I have an old mobile phone battery, where does it go?”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57800" cy="1828800"/>
          </a:xfrm>
          <a:prstGeom prst="roundRect">
            <a:avLst/>
          </a:prstGeom>
          <a:solidFill>
            <a:srgbClr val="2C5F2D"/>
          </a:solidFill>
          <a:ln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627632"/>
            <a:ext cx="48554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EcoSort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21408"/>
            <a:ext cx="4855464" cy="10058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Times New Roman"/>
              </a:rPr>
              <a:t>Classifies it as e-waste / hazardous and advises against placing it in regular bins. The recommendation can be grounded in retrieved disposal guidance.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6616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3730752"/>
            <a:ext cx="48554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224528"/>
            <a:ext cx="4855464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63028"/>
                </a:solidFill>
                <a:latin typeface="Times New Roman"/>
              </a:rPr>
              <a:t>“What about a banana peel and a pizza box?”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566160"/>
            <a:ext cx="5257800" cy="1828800"/>
          </a:xfrm>
          <a:prstGeom prst="roundRect">
            <a:avLst/>
          </a:prstGeom>
          <a:solidFill>
            <a:srgbClr val="2C5F2D"/>
          </a:solidFill>
          <a:ln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3730752"/>
            <a:ext cx="48554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EcoSort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224528"/>
            <a:ext cx="4855464" cy="10058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Times New Roman"/>
              </a:rPr>
              <a:t>Banana peel → Wet/Organic waste. Pizza box → depends on condition: greasy material may be general waste; clean cardboard can be dry/recyclable waste.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92240"/>
            <a:ext cx="96012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0">
                <a:solidFill>
                  <a:srgbClr val="5A645C"/>
                </a:solidFill>
                <a:latin typeface="Times New Roman"/>
              </a:rPr>
              <a:t>1M1B AI for Sustainability Internship  |  EcoSort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02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2C5F2D"/>
                </a:solidFill>
                <a:latin typeface="Times New Roman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400" b="1">
                <a:solidFill>
                  <a:srgbClr val="2C5F2D"/>
                </a:solidFill>
                <a:latin typeface="Times New Roman"/>
              </a:rPr>
              <a:t>Responsible AI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566928" cy="45720"/>
          </a:xfrm>
          <a:prstGeom prst="rect">
            <a:avLst/>
          </a:prstGeom>
          <a:solidFill>
            <a:srgbClr val="E0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698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0">
                <a:solidFill>
                  <a:srgbClr val="5A645C"/>
                </a:solidFill>
                <a:latin typeface="Times New Roman"/>
              </a:rPr>
              <a:t>Responsible use is part of the project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673351"/>
            <a:ext cx="48554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Fairness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67128"/>
            <a:ext cx="4855464" cy="1097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63028"/>
                </a:solidFill>
                <a:latin typeface="Times New Roman"/>
              </a:rPr>
              <a:t>Use diverse waste examples across regions and user contexts rather than relying only on urban or English-labelled packaging.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673351"/>
            <a:ext cx="48554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Transparency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67128"/>
            <a:ext cx="4855464" cy="1097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63028"/>
                </a:solidFill>
                <a:latin typeface="Times New Roman"/>
              </a:rPr>
              <a:t>Explain the basis of a classification or recommendation so users can understand and verify the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3867911"/>
            <a:ext cx="48554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Ethics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361688"/>
            <a:ext cx="4855464" cy="1097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63028"/>
                </a:solidFill>
                <a:latin typeface="Times New Roman"/>
              </a:rPr>
              <a:t>Keep guidance neutral and educational; avoid shaming, manipulation or misleading recommendations.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0332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3867911"/>
            <a:ext cx="48554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361688"/>
            <a:ext cx="4855464" cy="1097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63028"/>
                </a:solidFill>
                <a:latin typeface="Times New Roman"/>
              </a:rPr>
              <a:t>Process uploaded photos for classification and avoid unnecessary storage or linking to individual identities.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92240"/>
            <a:ext cx="96012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0">
                <a:solidFill>
                  <a:srgbClr val="5A645C"/>
                </a:solidFill>
                <a:latin typeface="Times New Roman"/>
              </a:rPr>
              <a:t>1M1B AI for Sustainability Internship  |  EcoSort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02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2C5F2D"/>
                </a:solidFill>
                <a:latin typeface="Times New Roman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400" b="1">
                <a:solidFill>
                  <a:srgbClr val="2C5F2D"/>
                </a:solidFill>
                <a:latin typeface="Times New Roman"/>
              </a:rPr>
              <a:t>Expected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566928" cy="45720"/>
          </a:xfrm>
          <a:prstGeom prst="rect">
            <a:avLst/>
          </a:prstGeom>
          <a:solidFill>
            <a:srgbClr val="E0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69848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0">
                <a:solidFill>
                  <a:srgbClr val="5A645C"/>
                </a:solidFill>
                <a:latin typeface="Times New Roman"/>
              </a:rPr>
              <a:t>What could change if EcoSort AI is implemented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429000" cy="2057400"/>
          </a:xfrm>
          <a:prstGeom prst="roundRect">
            <a:avLst/>
          </a:prstGeom>
          <a:solidFill>
            <a:srgbClr val="2C5F2D"/>
          </a:solidFill>
          <a:ln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719072"/>
            <a:ext cx="30266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Higher recycling yield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12848"/>
            <a:ext cx="3026664" cy="1234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Times New Roman"/>
              </a:rPr>
              <a:t>Cleaner, correctly sorted waste streams can reduce contamination and support recycling.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719072"/>
            <a:ext cx="30266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Lower manual sorting effort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2668" y="2392819"/>
            <a:ext cx="3026664" cy="1234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 dirty="0">
                <a:solidFill>
                  <a:srgbClr val="263028"/>
                </a:solidFill>
                <a:latin typeface="Times New Roman"/>
              </a:rPr>
              <a:t>Facility staff can spend less time correcting misplaced items.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5448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93608" y="1719072"/>
            <a:ext cx="30266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Times New Roman"/>
              </a:rPr>
              <a:t>Better hazardous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212848"/>
            <a:ext cx="3026664" cy="1234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63028"/>
                </a:solidFill>
                <a:latin typeface="Times New Roman"/>
              </a:rPr>
              <a:t>E-waste and batteries can be directed toward appropriate handling rather than regular bins.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160520"/>
            <a:ext cx="7086600" cy="1508760"/>
          </a:xfrm>
          <a:prstGeom prst="roundRect">
            <a:avLst/>
          </a:prstGeom>
          <a:solidFill>
            <a:srgbClr val="2C5F2D"/>
          </a:solidFill>
          <a:ln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61488" y="4325112"/>
            <a:ext cx="6684264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Behavior change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4818888"/>
            <a:ext cx="6684264" cy="6857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Times New Roman"/>
              </a:rPr>
              <a:t>Instant, judgment-free feedback can reinforce correct sorting habits over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92240"/>
            <a:ext cx="96012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0">
                <a:solidFill>
                  <a:srgbClr val="5A645C"/>
                </a:solidFill>
                <a:latin typeface="Times New Roman"/>
              </a:rPr>
              <a:t>1M1B AI for Sustainability Internship  |  EcoSort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029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2C5F2D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875</Words>
  <Application>Microsoft Office PowerPoint</Application>
  <PresentationFormat>Widescreen</PresentationFormat>
  <Paragraphs>140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home</dc:creator>
  <cp:keywords/>
  <dc:description>generated using python-pptx</dc:description>
  <cp:lastModifiedBy>shaik sana</cp:lastModifiedBy>
  <cp:revision>3</cp:revision>
  <dcterms:created xsi:type="dcterms:W3CDTF">2013-01-27T09:14:16Z</dcterms:created>
  <dcterms:modified xsi:type="dcterms:W3CDTF">2026-09-16T14:31:36Z</dcterms:modified>
  <cp:category/>
</cp:coreProperties>
</file>